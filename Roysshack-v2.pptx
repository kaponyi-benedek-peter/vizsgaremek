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0" r:id="rId5"/>
    <p:sldId id="274" r:id="rId6"/>
    <p:sldId id="263" r:id="rId7"/>
    <p:sldId id="266" r:id="rId8"/>
    <p:sldId id="260" r:id="rId9"/>
    <p:sldId id="261" r:id="rId10"/>
    <p:sldId id="267" r:id="rId11"/>
    <p:sldId id="276" r:id="rId12"/>
    <p:sldId id="262" r:id="rId13"/>
    <p:sldId id="268" r:id="rId14"/>
    <p:sldId id="269" r:id="rId15"/>
    <p:sldId id="277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963E"/>
    <a:srgbClr val="3A973E"/>
    <a:srgbClr val="131313"/>
    <a:srgbClr val="131312"/>
    <a:srgbClr val="3E9E41"/>
    <a:srgbClr val="60A500"/>
    <a:srgbClr val="197D11"/>
    <a:srgbClr val="1D9014"/>
    <a:srgbClr val="023C1F"/>
    <a:srgbClr val="8C8C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50000" b="-5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cons8.com/" TargetMode="External"/><Relationship Id="rId5" Type="http://schemas.openxmlformats.org/officeDocument/2006/relationships/hyperlink" Target="https://www.cypress.io/#create" TargetMode="External"/><Relationship Id="rId4" Type="http://schemas.openxmlformats.org/officeDocument/2006/relationships/hyperlink" Target="https://unsplash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95917"/>
            <a:ext cx="8229600" cy="18556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4000" dirty="0">
                <a:solidFill>
                  <a:schemeClr val="bg1"/>
                </a:solidFill>
                <a:latin typeface="Chinese Rocks Rg" panose="00000400000000000000" pitchFamily="50" charset="-18"/>
              </a:rPr>
              <a:t>Frontend</a:t>
            </a:r>
            <a:r>
              <a:rPr lang="hu-HU" sz="4000" dirty="0">
                <a:solidFill>
                  <a:schemeClr val="bg1"/>
                </a:solidFill>
                <a:latin typeface="Chinese Rocks Rg" panose="00000400000000000000" pitchFamily="50" charset="-18"/>
              </a:rPr>
              <a:t>				</a:t>
            </a:r>
            <a:r>
              <a:rPr sz="4000" dirty="0">
                <a:solidFill>
                  <a:schemeClr val="bg1"/>
                </a:solidFill>
                <a:latin typeface="Chinese Rocks Rg" panose="00000400000000000000" pitchFamily="50" charset="-18"/>
              </a:rPr>
              <a:t>Backend</a:t>
            </a:r>
            <a:r>
              <a:rPr lang="hu-HU" sz="4000" dirty="0">
                <a:solidFill>
                  <a:schemeClr val="bg1"/>
                </a:solidFill>
                <a:latin typeface="Chinese Rocks Rg" panose="00000400000000000000" pitchFamily="50" charset="-18"/>
              </a:rPr>
              <a:t>		</a:t>
            </a:r>
            <a:r>
              <a:rPr lang="hu-HU" sz="40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Database</a:t>
            </a:r>
            <a:endParaRPr lang="hu-HU" sz="4000" dirty="0">
              <a:solidFill>
                <a:schemeClr val="bg1"/>
              </a:solidFill>
              <a:latin typeface="Chinese Rocks Rg" panose="00000400000000000000" pitchFamily="50" charset="-18"/>
            </a:endParaRPr>
          </a:p>
          <a:p>
            <a:pPr marL="0" indent="0" algn="ctr">
              <a:buNone/>
            </a:pPr>
            <a:endParaRPr lang="hu-HU" sz="1400" dirty="0">
              <a:solidFill>
                <a:schemeClr val="bg1"/>
              </a:solidFill>
              <a:latin typeface="Chinese Rocks Rg" panose="00000400000000000000" pitchFamily="50" charset="-18"/>
            </a:endParaRPr>
          </a:p>
          <a:p>
            <a:pPr marL="0" indent="0" algn="ctr">
              <a:buNone/>
            </a:pPr>
            <a:r>
              <a:rPr lang="hu-HU" sz="2400" dirty="0">
                <a:solidFill>
                  <a:schemeClr val="bg1"/>
                </a:solidFill>
                <a:latin typeface="Chinese Rocks Rg" panose="00000400000000000000" pitchFamily="50" charset="-18"/>
              </a:rPr>
              <a:t>Kaponyi Benedek Péter		Kerepesi Áron		Katona Roland</a:t>
            </a:r>
          </a:p>
        </p:txBody>
      </p:sp>
      <p:pic>
        <p:nvPicPr>
          <p:cNvPr id="6" name="Kép 5" descr="A képen szöveg, Grafika, clipart, Grafikus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9E67E1E-B623-9A91-EBEE-2FA2D5822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523" y="1102344"/>
            <a:ext cx="4984954" cy="2735199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 descr="A képen képernyőkép, zöld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306F9DE1-92F9-A089-96E4-77322C2BC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646" y="300558"/>
            <a:ext cx="3656708" cy="24378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26938"/>
            <a:ext cx="8229600" cy="841221"/>
          </a:xfrm>
        </p:spPr>
        <p:txBody>
          <a:bodyPr/>
          <a:lstStyle/>
          <a:p>
            <a:r>
              <a:rPr lang="hu-HU" spc="300" dirty="0">
                <a:solidFill>
                  <a:schemeClr val="bg1"/>
                </a:solidFill>
                <a:latin typeface="Chinese Rocks Rg" panose="00000400000000000000" pitchFamily="50" charset="-18"/>
              </a:rPr>
              <a:t>The idea</a:t>
            </a:r>
            <a:endParaRPr spc="300" dirty="0">
              <a:solidFill>
                <a:schemeClr val="bg1"/>
              </a:solidFill>
              <a:latin typeface="Chinese Rocks Rg" panose="00000400000000000000" pitchFamily="50" charset="-1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11983"/>
            <a:ext cx="8229600" cy="4525963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Pharmaceutical</a:t>
            </a: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 webshop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	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What</a:t>
            </a: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we</a:t>
            </a: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offer</a:t>
            </a: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:</a:t>
            </a:r>
          </a:p>
          <a:p>
            <a:pPr lvl="1">
              <a:lnSpc>
                <a:spcPct val="200000"/>
              </a:lnSpc>
            </a:pP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Customer-first</a:t>
            </a: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natural</a:t>
            </a: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solutions</a:t>
            </a:r>
            <a:endParaRPr lang="hu-HU" dirty="0">
              <a:solidFill>
                <a:schemeClr val="bg1"/>
              </a:solidFill>
              <a:latin typeface="Chinese Rocks Rg" panose="00000400000000000000" pitchFamily="50" charset="-18"/>
            </a:endParaRPr>
          </a:p>
          <a:p>
            <a:pPr lvl="1">
              <a:lnSpc>
                <a:spcPct val="200000"/>
              </a:lnSpc>
            </a:pP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Health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advice</a:t>
            </a:r>
            <a:endParaRPr lang="hu-HU" dirty="0">
              <a:solidFill>
                <a:schemeClr val="bg1"/>
              </a:solidFill>
              <a:latin typeface="Chinese Rocks Rg" panose="00000400000000000000" pitchFamily="50" charset="-18"/>
            </a:endParaRPr>
          </a:p>
          <a:p>
            <a:pPr lvl="1"/>
            <a:endParaRPr lang="hu-HU" dirty="0">
              <a:solidFill>
                <a:schemeClr val="bg1"/>
              </a:solidFill>
              <a:latin typeface="Chinese Rocks Rg" panose="00000400000000000000" pitchFamily="50" charset="-18"/>
            </a:endParaRPr>
          </a:p>
          <a:p>
            <a:endParaRPr lang="hu-HU" dirty="0">
              <a:solidFill>
                <a:schemeClr val="bg1"/>
              </a:solidFill>
              <a:latin typeface="Chinese Rocks Rg" panose="00000400000000000000" pitchFamily="50" charset="-18"/>
            </a:endParaRPr>
          </a:p>
          <a:p>
            <a:pPr marL="0" indent="0">
              <a:buNone/>
            </a:pPr>
            <a:endParaRPr dirty="0">
              <a:solidFill>
                <a:schemeClr val="bg1"/>
              </a:solidFill>
              <a:latin typeface="Chinese Rocks Rg" panose="00000400000000000000" pitchFamily="50" charset="-18"/>
            </a:endParaRPr>
          </a:p>
        </p:txBody>
      </p:sp>
      <p:pic>
        <p:nvPicPr>
          <p:cNvPr id="6" name="Ábra 5">
            <a:extLst>
              <a:ext uri="{FF2B5EF4-FFF2-40B4-BE49-F238E27FC236}">
                <a16:creationId xmlns:a16="http://schemas.microsoft.com/office/drawing/2014/main" id="{3546720C-DB97-8FF4-F42A-ADAA1B6989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8846" y="341894"/>
            <a:ext cx="1570089" cy="1570089"/>
          </a:xfrm>
          <a:prstGeom prst="rect">
            <a:avLst/>
          </a:prstGeom>
        </p:spPr>
      </p:pic>
      <p:pic>
        <p:nvPicPr>
          <p:cNvPr id="5" name="Kép 4" descr="A képen zöld, művészet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AA1B7F8-491B-042A-E1D7-38F9E2D12D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11766"/>
            <a:ext cx="9144000" cy="243780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 descr="A képen képernyőkép, zöld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3EB93DB8-8C29-056F-C81B-673F0CAC5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22" y="-1329631"/>
            <a:ext cx="8229600" cy="51575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677647"/>
            <a:ext cx="8229600" cy="1143000"/>
          </a:xfrm>
        </p:spPr>
        <p:txBody>
          <a:bodyPr>
            <a:normAutofit/>
          </a:bodyPr>
          <a:lstStyle/>
          <a:p>
            <a:r>
              <a:rPr lang="hu-HU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Where</a:t>
            </a:r>
            <a:r>
              <a:rPr lang="hu-HU" spc="300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did</a:t>
            </a:r>
            <a:r>
              <a:rPr lang="hu-HU" spc="300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it</a:t>
            </a:r>
            <a:r>
              <a:rPr lang="hu-HU" spc="300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come</a:t>
            </a:r>
            <a:r>
              <a:rPr lang="hu-HU" spc="300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from</a:t>
            </a:r>
            <a:r>
              <a:rPr lang="hu-HU" spc="300" dirty="0">
                <a:solidFill>
                  <a:schemeClr val="bg1"/>
                </a:solidFill>
                <a:latin typeface="Chinese Rocks Rg" panose="00000400000000000000" pitchFamily="50" charset="-18"/>
              </a:rPr>
              <a:t>?</a:t>
            </a:r>
            <a:endParaRPr spc="300" dirty="0">
              <a:solidFill>
                <a:schemeClr val="bg1"/>
              </a:solidFill>
              <a:latin typeface="Chinese Rocks Rg" panose="00000400000000000000" pitchFamily="50" charset="-1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478" y="2550563"/>
            <a:ext cx="7969045" cy="3284640"/>
          </a:xfrm>
        </p:spPr>
        <p:txBody>
          <a:bodyPr>
            <a:noAutofit/>
          </a:bodyPr>
          <a:lstStyle/>
          <a:p>
            <a:pPr>
              <a:lnSpc>
                <a:spcPct val="300000"/>
              </a:lnSpc>
              <a:spcBef>
                <a:spcPts val="1200"/>
              </a:spcBef>
            </a:pPr>
            <a:r>
              <a:rPr lang="hu-HU" sz="20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Solving</a:t>
            </a:r>
            <a:r>
              <a:rPr lang="hu-HU" sz="2000" dirty="0">
                <a:solidFill>
                  <a:schemeClr val="bg1"/>
                </a:solidFill>
                <a:latin typeface="Chinese Rocks Rg" panose="00000400000000000000" pitchFamily="50" charset="-18"/>
              </a:rPr>
              <a:t> an </a:t>
            </a:r>
            <a:r>
              <a:rPr lang="hu-HU" sz="20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everyday</a:t>
            </a:r>
            <a:r>
              <a:rPr lang="hu-HU" sz="2000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sz="20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problem</a:t>
            </a:r>
            <a:endParaRPr lang="hu-HU" sz="2000" dirty="0">
              <a:solidFill>
                <a:schemeClr val="bg1"/>
              </a:solidFill>
              <a:latin typeface="Chinese Rocks Rg" panose="00000400000000000000" pitchFamily="50" charset="-18"/>
            </a:endParaRPr>
          </a:p>
          <a:p>
            <a:pPr>
              <a:lnSpc>
                <a:spcPct val="300000"/>
              </a:lnSpc>
            </a:pPr>
            <a:r>
              <a:rPr lang="hu-HU" sz="20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Other</a:t>
            </a:r>
            <a:r>
              <a:rPr lang="hu-HU" sz="2000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sz="20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websites</a:t>
            </a:r>
            <a:r>
              <a:rPr lang="hu-HU" sz="2000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sz="20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offer</a:t>
            </a:r>
            <a:r>
              <a:rPr lang="hu-HU" sz="2000" dirty="0">
                <a:solidFill>
                  <a:schemeClr val="bg1"/>
                </a:solidFill>
                <a:latin typeface="Chinese Rocks Rg" panose="00000400000000000000" pitchFamily="50" charset="-18"/>
              </a:rPr>
              <a:t> less </a:t>
            </a:r>
            <a:r>
              <a:rPr lang="hu-HU" sz="20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useful</a:t>
            </a:r>
            <a:r>
              <a:rPr lang="hu-HU" sz="2000" dirty="0">
                <a:solidFill>
                  <a:schemeClr val="bg1"/>
                </a:solidFill>
                <a:latin typeface="Chinese Rocks Rg" panose="00000400000000000000" pitchFamily="50" charset="-18"/>
              </a:rPr>
              <a:t> and less </a:t>
            </a:r>
            <a:r>
              <a:rPr lang="hu-HU" sz="20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regulated</a:t>
            </a:r>
            <a:r>
              <a:rPr lang="hu-HU" sz="2000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sz="20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products</a:t>
            </a:r>
            <a:endParaRPr lang="hu-HU" sz="2000" dirty="0">
              <a:solidFill>
                <a:schemeClr val="bg1"/>
              </a:solidFill>
              <a:latin typeface="Chinese Rocks Rg" panose="00000400000000000000" pitchFamily="50" charset="-18"/>
            </a:endParaRPr>
          </a:p>
          <a:p>
            <a:pPr>
              <a:lnSpc>
                <a:spcPct val="300000"/>
              </a:lnSpc>
            </a:pPr>
            <a:r>
              <a:rPr lang="hu-HU" sz="20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Offering</a:t>
            </a:r>
            <a:r>
              <a:rPr lang="hu-HU" sz="2000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sz="20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things</a:t>
            </a:r>
            <a:r>
              <a:rPr lang="hu-HU" sz="2000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sz="20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what</a:t>
            </a:r>
            <a:r>
              <a:rPr lang="hu-HU" sz="2000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sz="20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people</a:t>
            </a:r>
            <a:r>
              <a:rPr lang="hu-HU" sz="2000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sz="20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often</a:t>
            </a:r>
            <a:r>
              <a:rPr lang="hu-HU" sz="2000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sz="20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don’t</a:t>
            </a:r>
            <a:r>
              <a:rPr lang="hu-HU" sz="2000" dirty="0">
                <a:solidFill>
                  <a:schemeClr val="bg1"/>
                </a:solidFill>
                <a:latin typeface="Chinese Rocks Rg" panose="00000400000000000000" pitchFamily="50" charset="-18"/>
              </a:rPr>
              <a:t> benefit </a:t>
            </a:r>
            <a:r>
              <a:rPr lang="hu-HU" sz="20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from</a:t>
            </a:r>
            <a:endParaRPr lang="hu-HU" sz="2000" dirty="0">
              <a:solidFill>
                <a:schemeClr val="bg1"/>
              </a:solidFill>
              <a:latin typeface="Chinese Rocks Rg" panose="00000400000000000000" pitchFamily="50" charset="-18"/>
            </a:endParaRPr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 descr="A képen zöld, művészet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4242BE5-6345-23AB-C8A6-79FA90A87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704" y="237963"/>
            <a:ext cx="9144000" cy="2437805"/>
          </a:xfrm>
          <a:prstGeom prst="rect">
            <a:avLst/>
          </a:prstGeom>
        </p:spPr>
      </p:pic>
      <p:pic>
        <p:nvPicPr>
          <p:cNvPr id="3" name="Kép 2" descr="A képen zöld, művészet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1FC1C46-598D-857E-31FF-EF00AA258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-5045227" y="-569796"/>
            <a:ext cx="9144000" cy="2437805"/>
          </a:xfrm>
          <a:prstGeom prst="rect">
            <a:avLst/>
          </a:prstGeom>
        </p:spPr>
      </p:pic>
      <p:pic>
        <p:nvPicPr>
          <p:cNvPr id="5" name="Kép 4" descr="A képen képernyőkép, zöld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95BF33F-04DB-F013-C09E-31993660E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421" y="-672964"/>
            <a:ext cx="5424975" cy="3399875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66B29CAB-9365-BE69-3B7C-B2BCBF271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282"/>
            <a:ext cx="8229600" cy="1143000"/>
          </a:xfrm>
        </p:spPr>
        <p:txBody>
          <a:bodyPr>
            <a:normAutofit/>
          </a:bodyPr>
          <a:lstStyle/>
          <a:p>
            <a:r>
              <a:rPr lang="hu-HU" sz="4000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TEchnologies</a:t>
            </a:r>
            <a:endParaRPr lang="hu-HU" sz="4000" spc="300" dirty="0">
              <a:solidFill>
                <a:schemeClr val="bg1"/>
              </a:solidFill>
              <a:latin typeface="Chinese Rocks Rg" panose="00000400000000000000" pitchFamily="50" charset="-18"/>
            </a:endParaRPr>
          </a:p>
        </p:txBody>
      </p:sp>
      <p:pic>
        <p:nvPicPr>
          <p:cNvPr id="1048" name="Picture 24" descr="Cypress Icon icon - Free Download PNG &amp; SVG | Streamline">
            <a:extLst>
              <a:ext uri="{FF2B5EF4-FFF2-40B4-BE49-F238E27FC236}">
                <a16:creationId xmlns:a16="http://schemas.microsoft.com/office/drawing/2014/main" id="{DBE36E51-8B80-8857-61BE-8E8877930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953" y="4683748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Kép 7" descr="A képen clipart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BB66F42-CE04-D1E8-ABA0-BE566A7767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925" y="3220149"/>
            <a:ext cx="1440000" cy="1440000"/>
          </a:xfrm>
          <a:prstGeom prst="rect">
            <a:avLst/>
          </a:prstGeom>
        </p:spPr>
      </p:pic>
      <p:pic>
        <p:nvPicPr>
          <p:cNvPr id="10" name="Kép 9" descr="A képen Grafika, Betűtípus, embléma, Grafikus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518154F-42EE-0904-0DAF-3EB0B57475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1641" y="4820037"/>
            <a:ext cx="1800000" cy="1800000"/>
          </a:xfrm>
          <a:prstGeom prst="rect">
            <a:avLst/>
          </a:prstGeom>
        </p:spPr>
      </p:pic>
      <p:pic>
        <p:nvPicPr>
          <p:cNvPr id="12" name="Kép 11" descr="A képen Acélkék, kék, képernyőkép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A205EF5-A012-6F0A-16C2-88C40EA674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6134" y="5183942"/>
            <a:ext cx="1440000" cy="1440000"/>
          </a:xfrm>
          <a:prstGeom prst="rect">
            <a:avLst/>
          </a:prstGeom>
        </p:spPr>
      </p:pic>
      <p:pic>
        <p:nvPicPr>
          <p:cNvPr id="14" name="Kép 13" descr="A képen embléma, szimbólum, Betűtípus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4BB3D93-5FA5-6144-FC12-074ACABB18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98466" y="2827520"/>
            <a:ext cx="1440000" cy="1440000"/>
          </a:xfrm>
          <a:prstGeom prst="rect">
            <a:avLst/>
          </a:prstGeom>
        </p:spPr>
      </p:pic>
      <p:pic>
        <p:nvPicPr>
          <p:cNvPr id="16" name="Kép 15" descr="A képen kör, illusztráció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41F46FC-E435-CD7B-B95E-8A0DAE1B20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359" y="4550896"/>
            <a:ext cx="1440000" cy="1440000"/>
          </a:xfrm>
          <a:prstGeom prst="rect">
            <a:avLst/>
          </a:prstGeom>
        </p:spPr>
      </p:pic>
      <p:pic>
        <p:nvPicPr>
          <p:cNvPr id="18" name="Kép 17" descr="A képen kör, Grafika, szimbólum, emblém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3AEDA0B1-18E3-D313-5540-70F82F806A2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4756" y="1729006"/>
            <a:ext cx="1440000" cy="1440000"/>
          </a:xfrm>
          <a:prstGeom prst="rect">
            <a:avLst/>
          </a:prstGeom>
        </p:spPr>
      </p:pic>
      <p:pic>
        <p:nvPicPr>
          <p:cNvPr id="20" name="Kép 19" descr="A képen narancs, Grafika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772737D-068B-8BDB-2453-8DB02737235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017" y="1891995"/>
            <a:ext cx="1800000" cy="1800000"/>
          </a:xfrm>
          <a:prstGeom prst="rect">
            <a:avLst/>
          </a:prstGeom>
        </p:spPr>
      </p:pic>
      <p:pic>
        <p:nvPicPr>
          <p:cNvPr id="4" name="Kép 3" descr="A képen Színesség, Grafika, háromszög, művészet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317A52A6-9FBF-D736-5B66-433F1615AA9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40826" y="1836866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359616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2FB5AC-540D-5CC3-5108-1EEAE6A10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A képen képernyőkép, zöld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A46828E8-59CF-3D86-1A7F-3F25332DC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574" y="-1116129"/>
            <a:ext cx="6889703" cy="43178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0B8E0D-6DC9-C164-F1F9-C9D35C7D4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287"/>
            <a:ext cx="8229600" cy="1143000"/>
          </a:xfrm>
        </p:spPr>
        <p:txBody>
          <a:bodyPr>
            <a:normAutofit/>
          </a:bodyPr>
          <a:lstStyle/>
          <a:p>
            <a:r>
              <a:rPr lang="hu-HU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Database</a:t>
            </a:r>
            <a:r>
              <a:rPr lang="hu-HU" spc="300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structure</a:t>
            </a:r>
            <a:endParaRPr spc="300" dirty="0">
              <a:solidFill>
                <a:schemeClr val="bg1"/>
              </a:solidFill>
              <a:latin typeface="Chinese Rocks Rg" panose="00000400000000000000" pitchFamily="50" charset="-18"/>
            </a:endParaRPr>
          </a:p>
        </p:txBody>
      </p:sp>
      <p:pic>
        <p:nvPicPr>
          <p:cNvPr id="6" name="Ábra 5">
            <a:extLst>
              <a:ext uri="{FF2B5EF4-FFF2-40B4-BE49-F238E27FC236}">
                <a16:creationId xmlns:a16="http://schemas.microsoft.com/office/drawing/2014/main" id="{09FC1B22-F4BE-E230-7B73-C6AE74CBC2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007671"/>
            <a:ext cx="9144000" cy="473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915252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A képen képernyőkép, zöld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3E6A40E-ADDD-D4EC-D157-E659D0BC9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51" y="-1173897"/>
            <a:ext cx="6889703" cy="4317832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9A997230-CCD4-D097-E16B-39F55CB95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3519"/>
            <a:ext cx="8229600" cy="1143000"/>
          </a:xfrm>
        </p:spPr>
        <p:txBody>
          <a:bodyPr>
            <a:normAutofit/>
          </a:bodyPr>
          <a:lstStyle/>
          <a:p>
            <a:r>
              <a:rPr lang="hu-HU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Database</a:t>
            </a:r>
            <a:r>
              <a:rPr lang="hu-HU" spc="300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routines</a:t>
            </a:r>
            <a:endParaRPr lang="hu-HU" spc="300" dirty="0">
              <a:solidFill>
                <a:schemeClr val="bg1"/>
              </a:solidFill>
              <a:latin typeface="Chinese Rocks Rg" panose="00000400000000000000" pitchFamily="50" charset="-18"/>
            </a:endParaRPr>
          </a:p>
        </p:txBody>
      </p:sp>
      <p:pic>
        <p:nvPicPr>
          <p:cNvPr id="7" name="Kép 6" descr="A képen szöveg, képernyőkép, menü, szá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1309FF9-17AF-F13A-881C-C96FAD283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777" y="2072148"/>
            <a:ext cx="4342598" cy="4298607"/>
          </a:xfrm>
          <a:prstGeom prst="rect">
            <a:avLst/>
          </a:prstGeom>
        </p:spPr>
      </p:pic>
      <p:pic>
        <p:nvPicPr>
          <p:cNvPr id="9" name="Kép 8" descr="A képen szöveg, képernyőkép, menü, szá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EF5EEA9-2074-508A-3ADC-1CA03D3B4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625" y="2064774"/>
            <a:ext cx="3962953" cy="467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379943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 descr="A képen képernyőkép, zöld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B632095-01D7-1389-91F7-80689057C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74" y="-559247"/>
            <a:ext cx="3656708" cy="2437805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51BEC04D-EDC5-ED54-3ED4-B403746BA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34635" y="147482"/>
            <a:ext cx="9221897" cy="1044012"/>
          </a:xfrm>
        </p:spPr>
        <p:txBody>
          <a:bodyPr>
            <a:normAutofit/>
          </a:bodyPr>
          <a:lstStyle/>
          <a:p>
            <a:r>
              <a:rPr lang="hu-HU" spc="300" dirty="0">
                <a:solidFill>
                  <a:schemeClr val="bg1"/>
                </a:solidFill>
                <a:latin typeface="Chinese Rocks Rg" panose="00000400000000000000" pitchFamily="50" charset="-18"/>
              </a:rPr>
              <a:t>Backend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DEAA95-B62F-7512-2B74-FD8CE6423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0675" y="776594"/>
            <a:ext cx="2741673" cy="4731932"/>
          </a:xfrm>
          <a:prstGeom prst="rect">
            <a:avLst/>
          </a:pr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932E6A25-C87A-C3AB-DC31-1DD9CE3451CB}"/>
              </a:ext>
            </a:extLst>
          </p:cNvPr>
          <p:cNvSpPr/>
          <p:nvPr/>
        </p:nvSpPr>
        <p:spPr>
          <a:xfrm>
            <a:off x="402844" y="3022216"/>
            <a:ext cx="2264533" cy="1078085"/>
          </a:xfrm>
          <a:prstGeom prst="roundRect">
            <a:avLst/>
          </a:prstGeom>
          <a:solidFill>
            <a:srgbClr val="3A973E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latin typeface="Chinese Rocks Rg" panose="00000400000000000000" pitchFamily="50" charset="-18"/>
              </a:rPr>
              <a:t>User</a:t>
            </a:r>
            <a:r>
              <a:rPr lang="hu-HU" dirty="0">
                <a:latin typeface="Chinese Rocks Rg" panose="00000400000000000000" pitchFamily="50" charset="-18"/>
              </a:rPr>
              <a:t> </a:t>
            </a:r>
            <a:r>
              <a:rPr lang="hu-HU" dirty="0" err="1">
                <a:latin typeface="Chinese Rocks Rg" panose="00000400000000000000" pitchFamily="50" charset="-18"/>
              </a:rPr>
              <a:t>clicks</a:t>
            </a:r>
            <a:r>
              <a:rPr lang="hu-HU" dirty="0">
                <a:latin typeface="Chinese Rocks Rg" panose="00000400000000000000" pitchFamily="50" charset="-18"/>
              </a:rPr>
              <a:t> login</a:t>
            </a:r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13FAE93B-68A1-DC47-630B-CE6B6B12135B}"/>
              </a:ext>
            </a:extLst>
          </p:cNvPr>
          <p:cNvSpPr/>
          <p:nvPr/>
        </p:nvSpPr>
        <p:spPr>
          <a:xfrm>
            <a:off x="628985" y="1262228"/>
            <a:ext cx="1917568" cy="951247"/>
          </a:xfrm>
          <a:prstGeom prst="roundRect">
            <a:avLst/>
          </a:prstGeom>
          <a:solidFill>
            <a:srgbClr val="3A973E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Chinese Rocks Rg" panose="00000400000000000000" pitchFamily="50" charset="-18"/>
              </a:rPr>
              <a:t>Backend </a:t>
            </a:r>
            <a:r>
              <a:rPr lang="hu-HU" dirty="0" err="1">
                <a:latin typeface="Chinese Rocks Rg" panose="00000400000000000000" pitchFamily="50" charset="-18"/>
              </a:rPr>
              <a:t>checks</a:t>
            </a:r>
            <a:r>
              <a:rPr lang="hu-HU" dirty="0">
                <a:latin typeface="Chinese Rocks Rg" panose="00000400000000000000" pitchFamily="50" charset="-18"/>
              </a:rPr>
              <a:t> </a:t>
            </a:r>
            <a:r>
              <a:rPr lang="hu-HU" dirty="0" err="1">
                <a:latin typeface="Chinese Rocks Rg" panose="00000400000000000000" pitchFamily="50" charset="-18"/>
              </a:rPr>
              <a:t>the</a:t>
            </a:r>
            <a:r>
              <a:rPr lang="hu-HU" dirty="0">
                <a:latin typeface="Chinese Rocks Rg" panose="00000400000000000000" pitchFamily="50" charset="-18"/>
              </a:rPr>
              <a:t> </a:t>
            </a:r>
            <a:r>
              <a:rPr lang="hu-HU" dirty="0" err="1">
                <a:latin typeface="Chinese Rocks Rg" panose="00000400000000000000" pitchFamily="50" charset="-18"/>
              </a:rPr>
              <a:t>credentials</a:t>
            </a:r>
            <a:endParaRPr lang="hu-HU" dirty="0">
              <a:latin typeface="Chinese Rocks Rg" panose="00000400000000000000" pitchFamily="50" charset="-18"/>
            </a:endParaRPr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88774897-F1D6-DD1F-D47B-AF126C6D6A5E}"/>
              </a:ext>
            </a:extLst>
          </p:cNvPr>
          <p:cNvSpPr/>
          <p:nvPr/>
        </p:nvSpPr>
        <p:spPr>
          <a:xfrm>
            <a:off x="402844" y="4921939"/>
            <a:ext cx="2369852" cy="1439532"/>
          </a:xfrm>
          <a:prstGeom prst="roundRect">
            <a:avLst/>
          </a:prstGeom>
          <a:solidFill>
            <a:srgbClr val="3A973E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Chinese Rocks Rg" panose="00000400000000000000" pitchFamily="50" charset="-18"/>
              </a:rPr>
              <a:t>Backend </a:t>
            </a:r>
            <a:r>
              <a:rPr lang="hu-HU" dirty="0" err="1">
                <a:latin typeface="Chinese Rocks Rg" panose="00000400000000000000" pitchFamily="50" charset="-18"/>
              </a:rPr>
              <a:t>creates</a:t>
            </a:r>
            <a:r>
              <a:rPr lang="hu-HU" dirty="0">
                <a:latin typeface="Chinese Rocks Rg" panose="00000400000000000000" pitchFamily="50" charset="-18"/>
              </a:rPr>
              <a:t> a login </a:t>
            </a:r>
            <a:r>
              <a:rPr lang="hu-HU" dirty="0" err="1">
                <a:latin typeface="Chinese Rocks Rg" panose="00000400000000000000" pitchFamily="50" charset="-18"/>
              </a:rPr>
              <a:t>confirmation</a:t>
            </a:r>
            <a:r>
              <a:rPr lang="hu-HU" dirty="0">
                <a:latin typeface="Chinese Rocks Rg" panose="00000400000000000000" pitchFamily="50" charset="-18"/>
              </a:rPr>
              <a:t>, </a:t>
            </a:r>
            <a:r>
              <a:rPr lang="hu-HU" dirty="0" err="1">
                <a:latin typeface="Chinese Rocks Rg" panose="00000400000000000000" pitchFamily="50" charset="-18"/>
              </a:rPr>
              <a:t>sends</a:t>
            </a:r>
            <a:r>
              <a:rPr lang="hu-HU" dirty="0">
                <a:latin typeface="Chinese Rocks Rg" panose="00000400000000000000" pitchFamily="50" charset="-18"/>
              </a:rPr>
              <a:t> an email </a:t>
            </a:r>
            <a:r>
              <a:rPr lang="hu-HU" dirty="0" err="1">
                <a:latin typeface="Chinese Rocks Rg" panose="00000400000000000000" pitchFamily="50" charset="-18"/>
              </a:rPr>
              <a:t>with</a:t>
            </a:r>
            <a:r>
              <a:rPr lang="hu-HU" dirty="0">
                <a:latin typeface="Chinese Rocks Rg" panose="00000400000000000000" pitchFamily="50" charset="-18"/>
              </a:rPr>
              <a:t> </a:t>
            </a:r>
            <a:r>
              <a:rPr lang="hu-HU" dirty="0" err="1">
                <a:latin typeface="Chinese Rocks Rg" panose="00000400000000000000" pitchFamily="50" charset="-18"/>
              </a:rPr>
              <a:t>the</a:t>
            </a:r>
            <a:r>
              <a:rPr lang="hu-HU" dirty="0">
                <a:latin typeface="Chinese Rocks Rg" panose="00000400000000000000" pitchFamily="50" charset="-18"/>
              </a:rPr>
              <a:t> </a:t>
            </a:r>
            <a:r>
              <a:rPr lang="hu-HU" dirty="0" err="1">
                <a:latin typeface="Chinese Rocks Rg" panose="00000400000000000000" pitchFamily="50" charset="-18"/>
              </a:rPr>
              <a:t>temporary</a:t>
            </a:r>
            <a:r>
              <a:rPr lang="hu-HU" dirty="0">
                <a:latin typeface="Chinese Rocks Rg" panose="00000400000000000000" pitchFamily="50" charset="-18"/>
              </a:rPr>
              <a:t> </a:t>
            </a:r>
            <a:r>
              <a:rPr lang="hu-HU" dirty="0" err="1">
                <a:latin typeface="Chinese Rocks Rg" panose="00000400000000000000" pitchFamily="50" charset="-18"/>
              </a:rPr>
              <a:t>token</a:t>
            </a:r>
            <a:endParaRPr lang="hu-HU" dirty="0">
              <a:latin typeface="Chinese Rocks Rg" panose="00000400000000000000" pitchFamily="50" charset="-18"/>
            </a:endParaRPr>
          </a:p>
        </p:txBody>
      </p:sp>
      <p:sp>
        <p:nvSpPr>
          <p:cNvPr id="7" name="Nyíl: lefelé mutató 6">
            <a:extLst>
              <a:ext uri="{FF2B5EF4-FFF2-40B4-BE49-F238E27FC236}">
                <a16:creationId xmlns:a16="http://schemas.microsoft.com/office/drawing/2014/main" id="{F5410BAD-6452-5208-D2E6-152CFE35594A}"/>
              </a:ext>
            </a:extLst>
          </p:cNvPr>
          <p:cNvSpPr/>
          <p:nvPr/>
        </p:nvSpPr>
        <p:spPr>
          <a:xfrm>
            <a:off x="1416226" y="2340088"/>
            <a:ext cx="344129" cy="653156"/>
          </a:xfrm>
          <a:prstGeom prst="downArrow">
            <a:avLst/>
          </a:prstGeom>
          <a:solidFill>
            <a:srgbClr val="3E9E41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Nyíl: lefelé mutató 7">
            <a:extLst>
              <a:ext uri="{FF2B5EF4-FFF2-40B4-BE49-F238E27FC236}">
                <a16:creationId xmlns:a16="http://schemas.microsoft.com/office/drawing/2014/main" id="{16D954AD-79E6-CAA0-20AF-9EFF27FEF3E1}"/>
              </a:ext>
            </a:extLst>
          </p:cNvPr>
          <p:cNvSpPr/>
          <p:nvPr/>
        </p:nvSpPr>
        <p:spPr>
          <a:xfrm>
            <a:off x="1396561" y="4139394"/>
            <a:ext cx="344129" cy="653156"/>
          </a:xfrm>
          <a:prstGeom prst="downArrow">
            <a:avLst/>
          </a:prstGeom>
          <a:solidFill>
            <a:srgbClr val="197D11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61A9B1BC-FE4F-BEA6-8297-C701F4F5C8B2}"/>
              </a:ext>
            </a:extLst>
          </p:cNvPr>
          <p:cNvSpPr/>
          <p:nvPr/>
        </p:nvSpPr>
        <p:spPr>
          <a:xfrm>
            <a:off x="3064551" y="3008685"/>
            <a:ext cx="2264533" cy="1078085"/>
          </a:xfrm>
          <a:prstGeom prst="roundRect">
            <a:avLst/>
          </a:prstGeom>
          <a:solidFill>
            <a:srgbClr val="3A973E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Chinese Rocks Rg" panose="00000400000000000000" pitchFamily="50" charset="-18"/>
              </a:rPr>
              <a:t>Backend </a:t>
            </a:r>
            <a:r>
              <a:rPr lang="hu-HU" dirty="0" err="1">
                <a:latin typeface="Chinese Rocks Rg" panose="00000400000000000000" pitchFamily="50" charset="-18"/>
              </a:rPr>
              <a:t>checks</a:t>
            </a:r>
            <a:r>
              <a:rPr lang="hu-HU" dirty="0">
                <a:latin typeface="Chinese Rocks Rg" panose="00000400000000000000" pitchFamily="50" charset="-18"/>
              </a:rPr>
              <a:t> </a:t>
            </a:r>
            <a:r>
              <a:rPr lang="hu-HU" dirty="0" err="1">
                <a:latin typeface="Chinese Rocks Rg" panose="00000400000000000000" pitchFamily="50" charset="-18"/>
              </a:rPr>
              <a:t>the</a:t>
            </a:r>
            <a:r>
              <a:rPr lang="hu-HU" dirty="0">
                <a:latin typeface="Chinese Rocks Rg" panose="00000400000000000000" pitchFamily="50" charset="-18"/>
              </a:rPr>
              <a:t> </a:t>
            </a:r>
            <a:r>
              <a:rPr lang="hu-HU" dirty="0" err="1">
                <a:latin typeface="Chinese Rocks Rg" panose="00000400000000000000" pitchFamily="50" charset="-18"/>
              </a:rPr>
              <a:t>temporary</a:t>
            </a:r>
            <a:r>
              <a:rPr lang="hu-HU" dirty="0">
                <a:latin typeface="Chinese Rocks Rg" panose="00000400000000000000" pitchFamily="50" charset="-18"/>
              </a:rPr>
              <a:t> </a:t>
            </a:r>
            <a:r>
              <a:rPr lang="hu-HU" dirty="0" err="1">
                <a:latin typeface="Chinese Rocks Rg" panose="00000400000000000000" pitchFamily="50" charset="-18"/>
              </a:rPr>
              <a:t>confirmation</a:t>
            </a:r>
            <a:r>
              <a:rPr lang="hu-HU" dirty="0">
                <a:latin typeface="Chinese Rocks Rg" panose="00000400000000000000" pitchFamily="50" charset="-18"/>
              </a:rPr>
              <a:t> </a:t>
            </a:r>
            <a:r>
              <a:rPr lang="hu-HU" dirty="0" err="1">
                <a:latin typeface="Chinese Rocks Rg" panose="00000400000000000000" pitchFamily="50" charset="-18"/>
              </a:rPr>
              <a:t>token</a:t>
            </a:r>
            <a:endParaRPr lang="hu-HU" dirty="0">
              <a:latin typeface="Chinese Rocks Rg" panose="00000400000000000000" pitchFamily="50" charset="-18"/>
            </a:endParaRPr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AA148608-9D3E-50F3-810D-00ABDF7F1304}"/>
              </a:ext>
            </a:extLst>
          </p:cNvPr>
          <p:cNvSpPr/>
          <p:nvPr/>
        </p:nvSpPr>
        <p:spPr>
          <a:xfrm>
            <a:off x="3290692" y="1248697"/>
            <a:ext cx="1917568" cy="951247"/>
          </a:xfrm>
          <a:prstGeom prst="roundRect">
            <a:avLst/>
          </a:prstGeom>
          <a:solidFill>
            <a:srgbClr val="3A973E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latin typeface="Chinese Rocks Rg" panose="00000400000000000000" pitchFamily="50" charset="-18"/>
              </a:rPr>
              <a:t>User</a:t>
            </a:r>
            <a:r>
              <a:rPr lang="hu-HU" dirty="0">
                <a:latin typeface="Chinese Rocks Rg" panose="00000400000000000000" pitchFamily="50" charset="-18"/>
              </a:rPr>
              <a:t> </a:t>
            </a:r>
            <a:r>
              <a:rPr lang="hu-HU" dirty="0" err="1">
                <a:latin typeface="Chinese Rocks Rg" panose="00000400000000000000" pitchFamily="50" charset="-18"/>
              </a:rPr>
              <a:t>clicks</a:t>
            </a:r>
            <a:r>
              <a:rPr lang="hu-HU" dirty="0">
                <a:latin typeface="Chinese Rocks Rg" panose="00000400000000000000" pitchFamily="50" charset="-18"/>
              </a:rPr>
              <a:t> </a:t>
            </a:r>
            <a:r>
              <a:rPr lang="hu-HU" dirty="0" err="1">
                <a:latin typeface="Chinese Rocks Rg" panose="00000400000000000000" pitchFamily="50" charset="-18"/>
              </a:rPr>
              <a:t>the</a:t>
            </a:r>
            <a:r>
              <a:rPr lang="hu-HU" dirty="0">
                <a:latin typeface="Chinese Rocks Rg" panose="00000400000000000000" pitchFamily="50" charset="-18"/>
              </a:rPr>
              <a:t> </a:t>
            </a:r>
            <a:r>
              <a:rPr lang="hu-HU" dirty="0" err="1">
                <a:latin typeface="Chinese Rocks Rg" panose="00000400000000000000" pitchFamily="50" charset="-18"/>
              </a:rPr>
              <a:t>magic</a:t>
            </a:r>
            <a:r>
              <a:rPr lang="hu-HU" dirty="0">
                <a:latin typeface="Chinese Rocks Rg" panose="00000400000000000000" pitchFamily="50" charset="-18"/>
              </a:rPr>
              <a:t> link in </a:t>
            </a:r>
            <a:r>
              <a:rPr lang="hu-HU" dirty="0" err="1">
                <a:latin typeface="Chinese Rocks Rg" panose="00000400000000000000" pitchFamily="50" charset="-18"/>
              </a:rPr>
              <a:t>the</a:t>
            </a:r>
            <a:r>
              <a:rPr lang="hu-HU" dirty="0">
                <a:latin typeface="Chinese Rocks Rg" panose="00000400000000000000" pitchFamily="50" charset="-18"/>
              </a:rPr>
              <a:t> email</a:t>
            </a:r>
          </a:p>
        </p:txBody>
      </p:sp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64142CE3-CC36-1CCC-2C04-6F3FB7C573FA}"/>
              </a:ext>
            </a:extLst>
          </p:cNvPr>
          <p:cNvSpPr/>
          <p:nvPr/>
        </p:nvSpPr>
        <p:spPr>
          <a:xfrm>
            <a:off x="3064551" y="4908408"/>
            <a:ext cx="2369852" cy="1439532"/>
          </a:xfrm>
          <a:prstGeom prst="roundRect">
            <a:avLst/>
          </a:prstGeom>
          <a:solidFill>
            <a:srgbClr val="3A973E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Chinese Rocks Rg" panose="00000400000000000000" pitchFamily="50" charset="-18"/>
              </a:rPr>
              <a:t>Backend </a:t>
            </a:r>
            <a:r>
              <a:rPr lang="hu-HU" dirty="0" err="1">
                <a:latin typeface="Chinese Rocks Rg" panose="00000400000000000000" pitchFamily="50" charset="-18"/>
              </a:rPr>
              <a:t>sends</a:t>
            </a:r>
            <a:r>
              <a:rPr lang="hu-HU" dirty="0">
                <a:latin typeface="Chinese Rocks Rg" panose="00000400000000000000" pitchFamily="50" charset="-18"/>
              </a:rPr>
              <a:t> </a:t>
            </a:r>
            <a:r>
              <a:rPr lang="hu-HU" dirty="0" err="1">
                <a:latin typeface="Chinese Rocks Rg" panose="00000400000000000000" pitchFamily="50" charset="-18"/>
              </a:rPr>
              <a:t>the</a:t>
            </a:r>
            <a:r>
              <a:rPr lang="hu-HU" dirty="0">
                <a:latin typeface="Chinese Rocks Rg" panose="00000400000000000000" pitchFamily="50" charset="-18"/>
              </a:rPr>
              <a:t> </a:t>
            </a:r>
            <a:r>
              <a:rPr lang="hu-HU" dirty="0" err="1">
                <a:latin typeface="Chinese Rocks Rg" panose="00000400000000000000" pitchFamily="50" charset="-18"/>
              </a:rPr>
              <a:t>user</a:t>
            </a:r>
            <a:r>
              <a:rPr lang="hu-HU" dirty="0">
                <a:latin typeface="Chinese Rocks Rg" panose="00000400000000000000" pitchFamily="50" charset="-18"/>
              </a:rPr>
              <a:t> </a:t>
            </a:r>
            <a:r>
              <a:rPr lang="hu-HU" dirty="0" err="1">
                <a:latin typeface="Chinese Rocks Rg" panose="00000400000000000000" pitchFamily="50" charset="-18"/>
              </a:rPr>
              <a:t>all</a:t>
            </a:r>
            <a:r>
              <a:rPr lang="hu-HU" dirty="0">
                <a:latin typeface="Chinese Rocks Rg" panose="00000400000000000000" pitchFamily="50" charset="-18"/>
              </a:rPr>
              <a:t> </a:t>
            </a:r>
            <a:r>
              <a:rPr lang="hu-HU" dirty="0" err="1">
                <a:latin typeface="Chinese Rocks Rg" panose="00000400000000000000" pitchFamily="50" charset="-18"/>
              </a:rPr>
              <a:t>its</a:t>
            </a:r>
            <a:r>
              <a:rPr lang="hu-HU" dirty="0">
                <a:latin typeface="Chinese Rocks Rg" panose="00000400000000000000" pitchFamily="50" charset="-18"/>
              </a:rPr>
              <a:t> </a:t>
            </a:r>
            <a:r>
              <a:rPr lang="hu-HU" dirty="0" err="1">
                <a:latin typeface="Chinese Rocks Rg" panose="00000400000000000000" pitchFamily="50" charset="-18"/>
              </a:rPr>
              <a:t>credentials</a:t>
            </a:r>
            <a:r>
              <a:rPr lang="hu-HU" dirty="0">
                <a:latin typeface="Chinese Rocks Rg" panose="00000400000000000000" pitchFamily="50" charset="-18"/>
              </a:rPr>
              <a:t> </a:t>
            </a:r>
            <a:r>
              <a:rPr lang="hu-HU" dirty="0" err="1">
                <a:latin typeface="Chinese Rocks Rg" panose="00000400000000000000" pitchFamily="50" charset="-18"/>
              </a:rPr>
              <a:t>thru</a:t>
            </a:r>
            <a:r>
              <a:rPr lang="hu-HU" dirty="0">
                <a:latin typeface="Chinese Rocks Rg" panose="00000400000000000000" pitchFamily="50" charset="-18"/>
              </a:rPr>
              <a:t> a TLS </a:t>
            </a:r>
            <a:r>
              <a:rPr lang="hu-HU" dirty="0" err="1">
                <a:latin typeface="Chinese Rocks Rg" panose="00000400000000000000" pitchFamily="50" charset="-18"/>
              </a:rPr>
              <a:t>secured</a:t>
            </a:r>
            <a:r>
              <a:rPr lang="hu-HU" dirty="0">
                <a:latin typeface="Chinese Rocks Rg" panose="00000400000000000000" pitchFamily="50" charset="-18"/>
              </a:rPr>
              <a:t> </a:t>
            </a:r>
            <a:r>
              <a:rPr lang="hu-HU" dirty="0" err="1">
                <a:latin typeface="Chinese Rocks Rg" panose="00000400000000000000" pitchFamily="50" charset="-18"/>
              </a:rPr>
              <a:t>tunnel</a:t>
            </a:r>
            <a:endParaRPr lang="hu-HU" dirty="0">
              <a:latin typeface="Chinese Rocks Rg" panose="00000400000000000000" pitchFamily="50" charset="-18"/>
            </a:endParaRPr>
          </a:p>
        </p:txBody>
      </p:sp>
      <p:sp>
        <p:nvSpPr>
          <p:cNvPr id="18" name="Nyíl: lefelé mutató 17">
            <a:extLst>
              <a:ext uri="{FF2B5EF4-FFF2-40B4-BE49-F238E27FC236}">
                <a16:creationId xmlns:a16="http://schemas.microsoft.com/office/drawing/2014/main" id="{F64DE6CF-9F2A-E7BD-7AA7-52682413AFC9}"/>
              </a:ext>
            </a:extLst>
          </p:cNvPr>
          <p:cNvSpPr/>
          <p:nvPr/>
        </p:nvSpPr>
        <p:spPr>
          <a:xfrm>
            <a:off x="4077933" y="2326557"/>
            <a:ext cx="344129" cy="653156"/>
          </a:xfrm>
          <a:prstGeom prst="downArrow">
            <a:avLst/>
          </a:prstGeom>
          <a:solidFill>
            <a:srgbClr val="3E9E41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Nyíl: lefelé mutató 18">
            <a:extLst>
              <a:ext uri="{FF2B5EF4-FFF2-40B4-BE49-F238E27FC236}">
                <a16:creationId xmlns:a16="http://schemas.microsoft.com/office/drawing/2014/main" id="{5B627AFD-7EAD-31C0-FEE7-1119031F3DC6}"/>
              </a:ext>
            </a:extLst>
          </p:cNvPr>
          <p:cNvSpPr/>
          <p:nvPr/>
        </p:nvSpPr>
        <p:spPr>
          <a:xfrm>
            <a:off x="4058268" y="4125863"/>
            <a:ext cx="344129" cy="653156"/>
          </a:xfrm>
          <a:prstGeom prst="downArrow">
            <a:avLst/>
          </a:prstGeom>
          <a:solidFill>
            <a:srgbClr val="197D11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86859104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A képen képernyőkép, zöld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1198BC8-5B0D-6B6E-BD50-C189477B1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646" y="-357353"/>
            <a:ext cx="3656708" cy="24378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0050"/>
            <a:ext cx="8229600" cy="1143000"/>
          </a:xfrm>
        </p:spPr>
        <p:txBody>
          <a:bodyPr/>
          <a:lstStyle/>
          <a:p>
            <a:r>
              <a:rPr sz="4000" spc="300" dirty="0">
                <a:solidFill>
                  <a:schemeClr val="bg1"/>
                </a:solidFill>
                <a:latin typeface="Chinese Rocks Rg" panose="00000400000000000000" pitchFamily="50" charset="-18"/>
              </a:rPr>
              <a:t>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1142"/>
            <a:ext cx="8229600" cy="4525963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Made</a:t>
            </a: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with</a:t>
            </a: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Angular</a:t>
            </a: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framework</a:t>
            </a:r>
            <a:endParaRPr dirty="0">
              <a:solidFill>
                <a:schemeClr val="bg1"/>
              </a:solidFill>
              <a:latin typeface="Chinese Rocks Rg" panose="00000400000000000000" pitchFamily="50" charset="-18"/>
            </a:endParaRPr>
          </a:p>
          <a:p>
            <a:pPr>
              <a:lnSpc>
                <a:spcPct val="250000"/>
              </a:lnSpc>
            </a:pP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Component</a:t>
            </a: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based</a:t>
            </a: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structure</a:t>
            </a:r>
            <a:endParaRPr dirty="0">
              <a:solidFill>
                <a:schemeClr val="bg1"/>
              </a:solidFill>
              <a:latin typeface="Chinese Rocks Rg" panose="00000400000000000000" pitchFamily="50" charset="-18"/>
            </a:endParaRPr>
          </a:p>
          <a:p>
            <a:pPr>
              <a:lnSpc>
                <a:spcPct val="250000"/>
              </a:lnSpc>
            </a:pPr>
            <a:r>
              <a:rPr dirty="0">
                <a:solidFill>
                  <a:schemeClr val="bg1"/>
                </a:solidFill>
                <a:latin typeface="Chinese Rocks Rg" panose="00000400000000000000" pitchFamily="50" charset="-18"/>
              </a:rPr>
              <a:t>API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calls</a:t>
            </a:r>
            <a:endParaRPr dirty="0">
              <a:solidFill>
                <a:schemeClr val="bg1"/>
              </a:solidFill>
              <a:latin typeface="Chinese Rocks Rg" panose="00000400000000000000" pitchFamily="50" charset="-18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0C38D65B-A305-1C36-F00C-D56CD4A20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1086026"/>
            <a:ext cx="9144000" cy="6096000"/>
          </a:xfrm>
          <a:prstGeom prst="rect">
            <a:avLst/>
          </a:prstGeom>
        </p:spPr>
      </p:pic>
      <p:pic>
        <p:nvPicPr>
          <p:cNvPr id="10" name="Kép 9" descr="A képen képernyőkép, zöld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A2B735B5-9FA6-CF94-8BE7-5DFD00955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458" y="-786222"/>
            <a:ext cx="4897081" cy="32647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000" spc="300" dirty="0">
                <a:solidFill>
                  <a:schemeClr val="bg1"/>
                </a:solidFill>
                <a:latin typeface="Chinese Rocks Rg" panose="00000400000000000000" pitchFamily="50" charset="-18"/>
              </a:rPr>
              <a:t>Design </a:t>
            </a:r>
            <a:r>
              <a:rPr lang="hu-HU" sz="4000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ideas</a:t>
            </a:r>
            <a:endParaRPr sz="4000" spc="300" dirty="0">
              <a:solidFill>
                <a:schemeClr val="bg1"/>
              </a:solidFill>
              <a:latin typeface="Chinese Rocks Rg" panose="00000400000000000000" pitchFamily="50" charset="-18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B3EF6ACB-7C08-C3F0-41D6-B5A2D867AE81}"/>
              </a:ext>
            </a:extLst>
          </p:cNvPr>
          <p:cNvSpPr txBox="1"/>
          <p:nvPr/>
        </p:nvSpPr>
        <p:spPr>
          <a:xfrm>
            <a:off x="4208206" y="2735786"/>
            <a:ext cx="8849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Clean</a:t>
            </a:r>
            <a:r>
              <a:rPr lang="hu-HU" sz="1400" dirty="0">
                <a:solidFill>
                  <a:schemeClr val="bg1"/>
                </a:solidFill>
                <a:latin typeface="Chinese Rocks Rg" panose="00000400000000000000" pitchFamily="50" charset="-18"/>
              </a:rPr>
              <a:t> UI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F7912ECF-A81D-2AF4-C668-2BB49ACC443D}"/>
              </a:ext>
            </a:extLst>
          </p:cNvPr>
          <p:cNvSpPr txBox="1"/>
          <p:nvPr/>
        </p:nvSpPr>
        <p:spPr>
          <a:xfrm>
            <a:off x="2625212" y="4739615"/>
            <a:ext cx="13470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User-friendly</a:t>
            </a:r>
            <a:r>
              <a:rPr lang="hu-HU" sz="1400" dirty="0">
                <a:solidFill>
                  <a:schemeClr val="bg1"/>
                </a:solidFill>
                <a:latin typeface="Chinese Rocks Rg" panose="00000400000000000000" pitchFamily="50" charset="-18"/>
              </a:rPr>
              <a:t> UI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04958743-7371-81AE-84F5-37FB1A3364CD}"/>
              </a:ext>
            </a:extLst>
          </p:cNvPr>
          <p:cNvSpPr txBox="1"/>
          <p:nvPr/>
        </p:nvSpPr>
        <p:spPr>
          <a:xfrm>
            <a:off x="5093109" y="4734076"/>
            <a:ext cx="1504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35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Responsive</a:t>
            </a:r>
            <a:r>
              <a:rPr lang="hu-HU" sz="1350" dirty="0">
                <a:solidFill>
                  <a:schemeClr val="bg1"/>
                </a:solidFill>
                <a:latin typeface="Chinese Rocks Rg" panose="00000400000000000000" pitchFamily="50" charset="-18"/>
              </a:rPr>
              <a:t> design</a:t>
            </a:r>
          </a:p>
        </p:txBody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 descr="A képen képernyőkép, zöld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05505EC-1A3F-D5F8-5349-21522136F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33" y="-1212819"/>
            <a:ext cx="6737309" cy="4491539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AD6AC074-36F8-0CB2-34C9-75F93F522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1451"/>
            <a:ext cx="8229600" cy="1143000"/>
          </a:xfrm>
        </p:spPr>
        <p:txBody>
          <a:bodyPr>
            <a:normAutofit/>
          </a:bodyPr>
          <a:lstStyle/>
          <a:p>
            <a:r>
              <a:rPr lang="hu-HU" sz="4000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Teamwork</a:t>
            </a:r>
            <a:r>
              <a:rPr lang="hu-HU" sz="4000" spc="300" dirty="0">
                <a:solidFill>
                  <a:schemeClr val="bg1"/>
                </a:solidFill>
                <a:latin typeface="Chinese Rocks Rg" panose="00000400000000000000" pitchFamily="50" charset="-18"/>
              </a:rPr>
              <a:t> + </a:t>
            </a:r>
            <a:r>
              <a:rPr lang="hu-HU" sz="4000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Work</a:t>
            </a:r>
            <a:r>
              <a:rPr lang="hu-HU" sz="4000" spc="300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sz="4000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time</a:t>
            </a:r>
            <a:endParaRPr lang="hu-HU" sz="4000" spc="300" dirty="0">
              <a:solidFill>
                <a:schemeClr val="bg1"/>
              </a:solidFill>
              <a:latin typeface="Chinese Rocks Rg" panose="00000400000000000000" pitchFamily="50" charset="-18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3A65E01-5BCA-E9A4-785E-BE3722AD4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13" y="1910543"/>
            <a:ext cx="8695173" cy="2545301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ACD1583-9FFE-049E-2D8B-1DFC668D1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21" y="4761936"/>
            <a:ext cx="8679932" cy="134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370960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50CBF7-CD48-87EA-EFA8-1092D5C3C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B5F82998-D5E3-B168-C1DC-501C70C1D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423" y="1703934"/>
            <a:ext cx="7960861" cy="4977085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E91795E0-75E8-2450-2A77-51DF0766A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44" y="176981"/>
            <a:ext cx="8672312" cy="94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135579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 descr="A képen zöld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E154B02-5D1D-29F3-E83B-7B98653B4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" y="5037353"/>
            <a:ext cx="9144000" cy="2134195"/>
          </a:xfrm>
          <a:prstGeom prst="rect">
            <a:avLst/>
          </a:prstGeom>
        </p:spPr>
      </p:pic>
      <p:pic>
        <p:nvPicPr>
          <p:cNvPr id="8" name="Kép 7" descr="A képen képernyőkép, zöld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C455405-A127-DD0F-C266-541960165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774" y="-1312778"/>
            <a:ext cx="6889703" cy="4317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4470"/>
            <a:ext cx="8229600" cy="1143000"/>
          </a:xfrm>
        </p:spPr>
        <p:txBody>
          <a:bodyPr/>
          <a:lstStyle/>
          <a:p>
            <a:r>
              <a:rPr lang="hu-HU" sz="4000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Work</a:t>
            </a:r>
            <a:r>
              <a:rPr lang="hu-HU" sz="4000" spc="300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sz="4000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progress</a:t>
            </a:r>
            <a:r>
              <a:rPr lang="hu-HU" sz="4000" spc="300" dirty="0">
                <a:solidFill>
                  <a:schemeClr val="bg1"/>
                </a:solidFill>
                <a:latin typeface="Chinese Rocks Rg" panose="00000400000000000000" pitchFamily="50" charset="-18"/>
              </a:rPr>
              <a:t>/status</a:t>
            </a:r>
            <a:endParaRPr sz="4000" spc="300" dirty="0">
              <a:solidFill>
                <a:schemeClr val="bg1"/>
              </a:solidFill>
              <a:latin typeface="Chinese Rocks Rg" panose="00000400000000000000" pitchFamily="50" charset="-1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2477" y="1708749"/>
            <a:ext cx="5501149" cy="4525963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Basic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funtions</a:t>
            </a: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working</a:t>
            </a:r>
            <a:endParaRPr dirty="0">
              <a:solidFill>
                <a:schemeClr val="bg1"/>
              </a:solidFill>
              <a:latin typeface="Chinese Rocks Rg" panose="00000400000000000000" pitchFamily="50" charset="-18"/>
            </a:endParaRPr>
          </a:p>
          <a:p>
            <a:pPr>
              <a:lnSpc>
                <a:spcPct val="250000"/>
              </a:lnSpc>
            </a:pP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Development</a:t>
            </a: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still</a:t>
            </a: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 in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progress</a:t>
            </a:r>
            <a:endParaRPr lang="hu-HU" dirty="0">
              <a:solidFill>
                <a:schemeClr val="bg1"/>
              </a:solidFill>
              <a:latin typeface="Chinese Rocks Rg" panose="00000400000000000000" pitchFamily="50" charset="-18"/>
            </a:endParaRPr>
          </a:p>
          <a:p>
            <a:pPr>
              <a:lnSpc>
                <a:spcPct val="250000"/>
              </a:lnSpc>
            </a:pP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Design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need</a:t>
            </a: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some</a:t>
            </a: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adjustments</a:t>
            </a:r>
            <a:endParaRPr dirty="0">
              <a:solidFill>
                <a:schemeClr val="bg1"/>
              </a:solidFill>
              <a:latin typeface="Chinese Rocks Rg" panose="00000400000000000000" pitchFamily="50" charset="-18"/>
            </a:endParaRPr>
          </a:p>
        </p:txBody>
      </p:sp>
      <p:pic>
        <p:nvPicPr>
          <p:cNvPr id="6" name="Kép 5" descr="A képen Színesség, kö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24D8FC8-1706-A630-A3D6-418F0E8CC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730" y="5338917"/>
            <a:ext cx="1057633" cy="1057633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 descr="A képen képernyőkép, zöld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8E62766-219D-B76A-D382-02C65C4DE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038" y="-713911"/>
            <a:ext cx="3913239" cy="2608826"/>
          </a:xfrm>
          <a:prstGeom prst="rect">
            <a:avLst/>
          </a:prstGeom>
        </p:spPr>
      </p:pic>
      <p:pic>
        <p:nvPicPr>
          <p:cNvPr id="5" name="Kép 4" descr="A képen szöveg, képernyőkép, szoftver, szá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F637CFC-DA14-CCF7-A1C2-65BA9BA146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155471"/>
            <a:ext cx="9144000" cy="4722489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344660B7-82FF-2FC6-735D-117A5441E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002"/>
            <a:ext cx="8229600" cy="1143000"/>
          </a:xfrm>
        </p:spPr>
        <p:txBody>
          <a:bodyPr>
            <a:normAutofit/>
          </a:bodyPr>
          <a:lstStyle/>
          <a:p>
            <a:r>
              <a:rPr lang="hu-HU" sz="4000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Tests</a:t>
            </a:r>
            <a:endParaRPr lang="hu-HU" sz="4000" spc="300" dirty="0">
              <a:solidFill>
                <a:schemeClr val="bg1"/>
              </a:solidFill>
              <a:latin typeface="Chinese Rocks Rg" panose="00000400000000000000" pitchFamily="50" charset="-18"/>
            </a:endParaRPr>
          </a:p>
        </p:txBody>
      </p:sp>
      <p:pic>
        <p:nvPicPr>
          <p:cNvPr id="8" name="Kép 7" descr="A képen zöld, művészet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DAC3772-D845-C411-2E35-C2626D383F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-3326004" y="4783514"/>
            <a:ext cx="9144000" cy="2437805"/>
          </a:xfrm>
          <a:prstGeom prst="rect">
            <a:avLst/>
          </a:prstGeom>
        </p:spPr>
      </p:pic>
      <p:pic>
        <p:nvPicPr>
          <p:cNvPr id="9" name="Kép 8" descr="A képen zöld, művészet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67E6CA8-4B0D-9423-A243-662ADFDCB8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7996" y="5762817"/>
            <a:ext cx="9144000" cy="243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65961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A képen képernyőkép, zöld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7DC7C4D-19FB-B250-C2A7-002E2C696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55" y="158085"/>
            <a:ext cx="5434527" cy="3405861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865C59A1-87B7-69DD-74FF-9AAD0C70A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81666" y="1289516"/>
            <a:ext cx="8229600" cy="1143000"/>
          </a:xfrm>
        </p:spPr>
        <p:txBody>
          <a:bodyPr/>
          <a:lstStyle/>
          <a:p>
            <a:r>
              <a:rPr lang="hu-HU" sz="4000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Future</a:t>
            </a:r>
            <a:r>
              <a:rPr lang="hu-HU" sz="4000" spc="300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sz="4000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plans</a:t>
            </a:r>
            <a:endParaRPr lang="hu-HU" sz="4000" spc="300" dirty="0">
              <a:solidFill>
                <a:schemeClr val="bg1"/>
              </a:solidFill>
              <a:latin typeface="Chinese Rocks Rg" panose="00000400000000000000" pitchFamily="50" charset="-18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F95F8FF-49F1-4DF9-7A05-155B1A069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948" y="2105891"/>
            <a:ext cx="8686800" cy="4525963"/>
          </a:xfrm>
        </p:spPr>
        <p:txBody>
          <a:bodyPr>
            <a:normAutofit/>
          </a:bodyPr>
          <a:lstStyle/>
          <a:p>
            <a:pPr>
              <a:lnSpc>
                <a:spcPct val="300000"/>
              </a:lnSpc>
            </a:pP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OTP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Simple</a:t>
            </a: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pay</a:t>
            </a: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integration</a:t>
            </a:r>
            <a:endParaRPr lang="hu-HU" dirty="0">
              <a:solidFill>
                <a:schemeClr val="bg1"/>
              </a:solidFill>
              <a:latin typeface="Chinese Rocks Rg" panose="00000400000000000000" pitchFamily="50" charset="-18"/>
            </a:endParaRPr>
          </a:p>
          <a:p>
            <a:pPr>
              <a:lnSpc>
                <a:spcPct val="300000"/>
              </a:lnSpc>
            </a:pP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AI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health</a:t>
            </a: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advisor</a:t>
            </a:r>
            <a:endParaRPr lang="hu-HU" dirty="0">
              <a:solidFill>
                <a:schemeClr val="bg1"/>
              </a:solidFill>
              <a:latin typeface="Chinese Rocks Rg" panose="00000400000000000000" pitchFamily="50" charset="-18"/>
            </a:endParaRPr>
          </a:p>
          <a:p>
            <a:pPr>
              <a:lnSpc>
                <a:spcPct val="300000"/>
              </a:lnSpc>
            </a:pP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Effective</a:t>
            </a: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dosage</a:t>
            </a: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/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price</a:t>
            </a: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calculator</a:t>
            </a:r>
            <a:endParaRPr lang="hu-HU" dirty="0">
              <a:solidFill>
                <a:schemeClr val="bg1"/>
              </a:solidFill>
              <a:latin typeface="Chinese Rocks Rg" panose="00000400000000000000" pitchFamily="50" charset="-18"/>
            </a:endParaRPr>
          </a:p>
        </p:txBody>
      </p:sp>
      <p:pic>
        <p:nvPicPr>
          <p:cNvPr id="7" name="Kép 6" descr="A képen Grafika, szimbólum, clipart, Grafikus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3933D409-B89C-33A8-2032-D24D64F5B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170" y="621781"/>
            <a:ext cx="922515" cy="922515"/>
          </a:xfrm>
          <a:prstGeom prst="rect">
            <a:avLst/>
          </a:prstGeom>
        </p:spPr>
      </p:pic>
      <p:pic>
        <p:nvPicPr>
          <p:cNvPr id="4" name="Kép 3" descr="A képen zöld, művészet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9D9BF51-648D-A7D6-4757-A60C96F3A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11766"/>
            <a:ext cx="9144000" cy="243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413966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D0A999-A279-F40D-48EC-7597F5E1A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A képen képernyőkép, zöld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CA07384-0EBF-DC67-46C1-95C36086C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148" y="1270084"/>
            <a:ext cx="6889703" cy="4317832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1708AF34-A3A5-8415-EA6E-F8F8966CE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hu-HU" sz="4000" spc="300" dirty="0">
                <a:solidFill>
                  <a:schemeClr val="bg1"/>
                </a:solidFill>
                <a:latin typeface="Chinese Rocks Rg" panose="00000400000000000000" pitchFamily="50" charset="-18"/>
              </a:rPr>
              <a:t>The </a:t>
            </a:r>
            <a:r>
              <a:rPr lang="hu-HU" sz="4000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demo</a:t>
            </a:r>
            <a:endParaRPr lang="hu-HU" sz="4000" spc="300" dirty="0">
              <a:solidFill>
                <a:schemeClr val="bg1"/>
              </a:solidFill>
              <a:latin typeface="Chinese Rocks Rg" panose="00000400000000000000" pitchFamily="50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351977512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-15000" contrast="15000"/>
                    </a14:imgEffect>
                  </a14:imgLayer>
                </a14:imgProps>
              </a:ext>
            </a:extLst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7171B35-2729-3BE1-0202-7051CCB28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lang="hu-HU" sz="4000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Thank</a:t>
            </a:r>
            <a:r>
              <a:rPr lang="hu-HU" sz="4000" spc="300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sz="4000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you</a:t>
            </a:r>
            <a:r>
              <a:rPr lang="hu-HU" sz="4000" spc="300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sz="4000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for</a:t>
            </a:r>
            <a:r>
              <a:rPr lang="hu-HU" sz="4000" spc="300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sz="4000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your</a:t>
            </a:r>
            <a:r>
              <a:rPr lang="hu-HU" sz="4000" spc="300" dirty="0">
                <a:solidFill>
                  <a:schemeClr val="bg1"/>
                </a:solidFill>
                <a:latin typeface="Chinese Rocks Rg" panose="00000400000000000000" pitchFamily="50" charset="-18"/>
              </a:rPr>
              <a:t> </a:t>
            </a:r>
            <a:r>
              <a:rPr lang="hu-HU" sz="4000" spc="300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attention</a:t>
            </a:r>
            <a:r>
              <a:rPr lang="hu-HU" sz="4000" spc="300" dirty="0">
                <a:solidFill>
                  <a:schemeClr val="bg1"/>
                </a:solidFill>
                <a:latin typeface="Chinese Rocks Rg" panose="00000400000000000000" pitchFamily="50" charset="-18"/>
              </a:rPr>
              <a:t>!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B24B2A43-7B94-9BB6-B9DF-1347B47399AC}"/>
              </a:ext>
            </a:extLst>
          </p:cNvPr>
          <p:cNvSpPr txBox="1"/>
          <p:nvPr/>
        </p:nvSpPr>
        <p:spPr>
          <a:xfrm>
            <a:off x="5607097" y="5584723"/>
            <a:ext cx="33599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hu-HU" dirty="0" err="1">
                <a:solidFill>
                  <a:schemeClr val="bg1"/>
                </a:solidFill>
                <a:latin typeface="Chinese Rocks Rg" panose="00000400000000000000" pitchFamily="50" charset="-18"/>
              </a:rPr>
              <a:t>Sources</a:t>
            </a: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  <a:t>:</a:t>
            </a:r>
          </a:p>
          <a:p>
            <a:pPr fontAlgn="base"/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  <a:hlinkClick r:id="rId4" tooltip="https://unsplash.com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https://unsplash.com/</a:t>
            </a:r>
            <a:b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</a:rPr>
            </a:br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  <a:hlinkClick r:id="rId5" tooltip="https://www.cypress.io/#cre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https://www.cypress.io/#create</a:t>
            </a:r>
            <a:endParaRPr lang="hu-HU" dirty="0">
              <a:solidFill>
                <a:schemeClr val="bg1"/>
              </a:solidFill>
              <a:latin typeface="Chinese Rocks Rg" panose="00000400000000000000" pitchFamily="50" charset="-18"/>
            </a:endParaRPr>
          </a:p>
          <a:p>
            <a:pPr fontAlgn="base"/>
            <a:r>
              <a:rPr lang="hu-HU" dirty="0">
                <a:solidFill>
                  <a:schemeClr val="bg1"/>
                </a:solidFill>
                <a:latin typeface="Chinese Rocks Rg" panose="00000400000000000000" pitchFamily="50" charset="-18"/>
                <a:hlinkClick r:id="rId6" tooltip="https://icons8.com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https://icons8.com/</a:t>
            </a:r>
            <a:endParaRPr lang="hu-HU" dirty="0">
              <a:solidFill>
                <a:schemeClr val="bg1"/>
              </a:solidFill>
              <a:latin typeface="Chinese Rocks Rg" panose="00000400000000000000" pitchFamily="50" charset="-18"/>
            </a:endParaRPr>
          </a:p>
          <a:p>
            <a:endParaRPr lang="hu-HU" dirty="0">
              <a:latin typeface="Chinese Rocks Rg" panose="00000400000000000000" pitchFamily="50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48572721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1175</TotalTime>
  <Words>197</Words>
  <Application>Microsoft Office PowerPoint</Application>
  <PresentationFormat>Diavetítés a képernyőre (4:3 oldalarány)</PresentationFormat>
  <Paragraphs>46</Paragraphs>
  <Slides>16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20" baseType="lpstr">
      <vt:lpstr>Arial</vt:lpstr>
      <vt:lpstr>Calibri</vt:lpstr>
      <vt:lpstr>Chinese Rocks Rg</vt:lpstr>
      <vt:lpstr>Office Theme</vt:lpstr>
      <vt:lpstr>PowerPoint-bemutató</vt:lpstr>
      <vt:lpstr>The idea</vt:lpstr>
      <vt:lpstr>Where did it come from?</vt:lpstr>
      <vt:lpstr>TEchnologies</vt:lpstr>
      <vt:lpstr>Database structure</vt:lpstr>
      <vt:lpstr>Database routines</vt:lpstr>
      <vt:lpstr>Backend</vt:lpstr>
      <vt:lpstr>Frontend</vt:lpstr>
      <vt:lpstr>Design ideas</vt:lpstr>
      <vt:lpstr>Teamwork + Work time</vt:lpstr>
      <vt:lpstr>PowerPoint-bemutató</vt:lpstr>
      <vt:lpstr>Work progress/status</vt:lpstr>
      <vt:lpstr>Tests</vt:lpstr>
      <vt:lpstr>Future plans</vt:lpstr>
      <vt:lpstr>The demo</vt:lpstr>
      <vt:lpstr>Thank you for your attention!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O365 felhasználó</cp:lastModifiedBy>
  <cp:revision>112</cp:revision>
  <dcterms:created xsi:type="dcterms:W3CDTF">2013-01-27T09:14:16Z</dcterms:created>
  <dcterms:modified xsi:type="dcterms:W3CDTF">2026-05-21T19:30:22Z</dcterms:modified>
  <cp:category/>
</cp:coreProperties>
</file>